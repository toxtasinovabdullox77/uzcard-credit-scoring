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34747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UZCARD ACADEMY 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KREDIT SKORING:</a:t>
            </a:r>
            <a:br/>
            <a:r>
              <a:t>Biznes so'rovidan tayyor datasetgacha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Ma'lumotlar auditi, Target yig'ish, portfel kechikishi diagnostikasi, Point-in-Time fichalar vitrinasi va qaror iqtisodiyoti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434840"/>
            <a:ext cx="2468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4526279"/>
            <a:ext cx="22494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Segoe UI"/>
              </a:defRPr>
            </a:pPr>
            <a:r>
              <a:t>18 000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Kredit arizalari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2023-06 dan 2025-04 gacha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434840"/>
            <a:ext cx="2468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0168" y="4526279"/>
            <a:ext cx="22494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Segoe UI"/>
              </a:defRPr>
            </a:pPr>
            <a:r>
              <a:t>17 ta jadval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PostgreSQL bazada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9 tasi tanlandi, 8 tasi filtrlandi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34840"/>
            <a:ext cx="2468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4526279"/>
            <a:ext cx="22494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C2626"/>
                </a:solidFill>
                <a:latin typeface="Segoe UI"/>
              </a:defRPr>
            </a:pPr>
            <a:r>
              <a:t>8 367 ta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Yetilgan shartnomalar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DPD 60+ (6 oy): 17.44% Bad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4434840"/>
            <a:ext cx="2468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25128" y="4526279"/>
            <a:ext cx="22494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9669"/>
                </a:solidFill>
                <a:latin typeface="Segoe UI"/>
              </a:defRPr>
            </a:pPr>
            <a:r>
              <a:t>36 ta ustun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Tayyor Feature Store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100% Point-in-Time (Leakage = 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1-QADAM. Biznes muammo va masalaning qo'yilishi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Biznes so'rovi: «Muddati o'tgan qarzlar o'sdi. Mijoz ishonchliligi modeli kerak»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256032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1-QADAM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406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406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72184"/>
            <a:ext cx="50749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Bankning qaysi qarori o'zgaradi?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Asosiy qaror: kredit arizasini ko'rib chiqish sanasida (decision_date) ma'qullash yoki rad etish (Approve / Reject).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Eskirgan siyosat (approved_by_old_policy va score_v1) yangi ML-skoring bilan almashtiriladi.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Qo'shimcha: chegara zonasidagi mijozlar uchun kredit limitini (issued_amount_uzs) yoki foiz stavkasini moslashtirish.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406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440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72184"/>
            <a:ext cx="507492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Qanday hodisa va qaysi gorizontda bashorat qilinadi?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Maqsadli hodisa (target = 1 / Bad): dastlabki 6 ta rejaviy to'lov (6 oy) ichida DPD &gt;= 60 kun kechikishga chiqish.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Nega 6 oy? Minimal kredit muddati 6 oy va barcha DPD 60+ defoltlarning 100% i aynan birinchi 6 to'lovda boshlanadi.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Nega 60+ kun? DPD 30+ texnik kechikishlarni o'z ichiga oladi, DPD 60+ esa haqiqiy defoltni ushlaydi.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544068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977639"/>
            <a:ext cx="54406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123944"/>
            <a:ext cx="507492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Populyatsiya va 4. Qaror paytidagi ma'lumotlar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Qo'llash populyatsiyasi: barcha kanallardagi (branch, mobile_app, agent) ETB (bank mijozlari) va NTB (yangi mijozlar).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O'qitish populyatsiyasi: tarixda ma'qullangan va 6 oylik oynasi yopilgan shartnomalar (Selection Bias hisobga olinadi).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Faqat decision_date gacha mavjud ma'lumotlar: anketa, BKI oxirgi surati (as-of join) va 3-6 oylik karta tarixi.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44068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977639"/>
            <a:ext cx="54406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123944"/>
            <a:ext cx="507492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5. Biznes natijani qaysi mezon asosida qabul qiladi?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Ranjirlash sifati (DS): Out-of-Time testda ROC-AUC &gt;= 0.75 (Gini &gt;= 0.50), PSI &lt; 0.10, score_v1 ustidan o'sish.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Biznes mezon: ma'qullash ulushini (~62%) saqlagan holda Bad Rate'ni 22-28% dan &lt;= 12-15% gacha tushirish.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Iqtisodiy mezon: ikki turdagi xato narxini (8.68 mln vs 2.35 mln so'm) hisobga olib, portfel sof foydasini (NPV) oshirish.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2-QADAM. Ma'lumotlar razvedkasi va Data Leakage auditi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PostgreSQL academy_db bazasidagi 17 ta scoring_* jadvalidan 9 tasi tanlandi, 6 tasi brakka chiqarildi (yuklanma: 2025-05-31)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256032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2-QADAM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7498080" cy="5222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9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Jadval (Manba)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Qatorlar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Kalit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Qaror sanasigacha bormi?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Xulosa / Status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scoring_applications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application_id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 (anketa ustunlari)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ISHLATILADI (Asosiy jadval)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scoring_customers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8 000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customer_id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 (onboarding &lt;= 2022)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ISHLATILADI (ETB mijoz profili)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scoring_bureau_snapshots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86 161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client_id,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Faqat snapshot &lt;= decision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ISHLATILADI (As-Of Join BKI)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scoring_bureau_inquiries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31 383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inquiry_id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Faqat inquiry &lt;= decision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ISHLATILADI (BKI so'rovlari)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scoring_card_transactions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1 044 743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txn_id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Faqat txn_ts &lt; decision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ISHLATILADI (3-6 oylik oborot)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scoring_cards / disputes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12 614 / 2 467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card_id / disp_id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issue / opened &lt; decision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ISHLATILADI (status ustunisiz!)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scoring_contracts / payments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11 277 / 103 150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contract / pay_id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Yo'q (kredit berilgach)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FAQAT TARGET VA IQTISOD UCHUN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scoring_applications_full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11 277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application_id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YO'Q (dpd_max, calls_cnt)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BRAK: Kelajakdan sizib chiqish!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scoring_bureau_loans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34 684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bureau_loan_id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YO'Q (worst_dpd 2025-05 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BRAK: Joriy statuslar kelajakdan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scoring_collection_actions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9 135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contract_id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YO'Q (defoltdan keyin)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BRAK: 100% Target Leakage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92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clients_old / payments_backup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6 000 / 73 421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client / pay_id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Dublikat va chala bekap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BRAK: 2 145 ta dublikat bor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09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txn_sample / scoring_temp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5 000 /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txn_id / 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Kesilgan namuna / bo'sh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BRAK: Texnik axlat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83879" y="1280160"/>
            <a:ext cx="352044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83879" y="1280160"/>
            <a:ext cx="35204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59" y="1426463"/>
            <a:ext cx="315468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Arizalar va mijozlar tarkibi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Jami 18 000 ta ariza (11 328 mijoz):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• Approved: 11 277 ta (62.65%) — barchasida shartnoma bor.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• Rejected: 6 723 ta (37.35%) — to'lovlar yo'q, lekin anketa va BKI bor.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Nega hamma mijozda karta yo'q?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• 8 000 mijoz (10 863 ariza) — ETB (bank mijozlari, kartasi bor).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• 5 437 mijoz (7 137 ariza, 39.6%) — NTB (ko'chadan kelgan yangi mijoz).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931920"/>
            <a:ext cx="352044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83879" y="3931920"/>
            <a:ext cx="35204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59" y="4078224"/>
            <a:ext cx="3154680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Asosiy topilgan xavflar (Traps)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1. applications_full: dpd_max va contract_status_now — tayyor target liki.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2. bureau_loans: worst_dpd_ever va status 2025-05-31 holatiga berilgan.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3. payments_backup: 2024-12-31 da uzilgan va 2 145 ta dublikati bor.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4. cards.status va disputes.status: qaror paytida emas, baza yuklangan sanadagi holatni ko'rsatadi.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3-QADAM. Target yig'ish (DPD 60+ / 6 oy) va chegara holatlari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Bazada tayyor target yo'q: to'lovlar tarixidan (scoring_payments) DPD hisoblandi va 6 oylik kuzatuv oynasi asoslandi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256032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3-QADAM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37160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C2626"/>
                </a:solidFill>
                <a:latin typeface="Segoe UI"/>
              </a:defRPr>
            </a:pPr>
            <a:r>
              <a:t>DPD &gt;= 60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Bad hodisa qoidasi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Dastlabki 6 ta to'lov ichida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37160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100% defolt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1..6 to'lovda chiqadi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12 oy kutish yangi bad qo'shmaydi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137160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Segoe UI"/>
              </a:defRPr>
            </a:pPr>
            <a:r>
              <a:t>8 367 ta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Yetilgan shartnomalar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2023-06 dan 2024-10 gacha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280160"/>
            <a:ext cx="26517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16567" y="1371600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Segoe UI"/>
              </a:defRPr>
            </a:pPr>
            <a:r>
              <a:t>1 459 (17.44%)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Jami Bad shartnomalar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Yetilgan kreditlar ichida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43200"/>
            <a:ext cx="54864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54864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889504"/>
            <a:ext cx="5120640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Nega aynan 6 oy gorizont va DPD 60+?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DPD hisoblash: to'langan bo'lsa max(0, paid_date - due_date), to'lanmagan bo'lsa ('2025-05-31' - due_date). Qisman to'lovlar (partial payment) bazada yo'q (0 ta).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Minimal kredit muddati — 6 oy (term_months: 6..24 oy). 6 oylik gorizont barcha shartnomalarni teng sharoitda baholaydi.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Muhim fakt: yetilgan kogortalarda (2023-06..2024-05) butun kredit davrida DPD 60+ ga chiqqan 858 ta shartnomaning barchasi (100%) ilk bor aynan 1–6-to'lovlarda kechikishga chiqqan!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DPD 30+ da texnik kechikishlar ko'p (20–36%), DPD 60+ esa haqiqiy kredit xavfini (delinq_90plus / written_off) ajratadi.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43200"/>
            <a:ext cx="5486400" cy="3749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743200"/>
            <a:ext cx="54864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889504"/>
            <a:ext cx="5120640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Qayta ishlangan 3 ta chegara holati (Edge Cases)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1. Rad etilgan arizalar (rejected — 6 723 ta): shartnoma va to'lovlar yo'q -&gt; target = NULL (o'qitishga kirmaydi, lekin PSI va Selection Bias tahlilida qatnashadi).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2. Kuzatuv oynasi yopilmagan shartnomalar (2024-11..2025-04 — 2 910 ta): 2025-05-31 gacha 6 ta to'lov muddati yetib kelmagan. Ularni 'yaxshi (0)' deb belgilash xato bo'ladi (Right Censoring) -&gt; yetilmagan deb ajratildi.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 3. To'lov grafigi hali yo'q yangi kreditlar (2025-yil aprel-may — 39 ta): birinchi to'lovi 2025-yil iyunda bo'lgani uchun scoring_payments da qatori yo'q -&gt; LEFT JOIN orqali yo'qotmasdan ushlab qolindi.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4-QADAM. Muammo tahlili: Kechikish qachon va nega o'sdi?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2024-yil iyun oyidan boshlab defolt ulushi 14.6% dan 22.9% gacha (oktyabrda 28.0% gacha) keskin sakragan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256032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4-QADAM</a:t>
            </a:r>
          </a:p>
        </p:txBody>
      </p:sp>
      <p:pic>
        <p:nvPicPr>
          <p:cNvPr id="7" name="Picture 6" descr="chart_cohorts_u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492240" cy="34264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280160"/>
            <a:ext cx="452628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78040" y="1280160"/>
            <a:ext cx="4526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19" y="1426463"/>
            <a:ext cx="4160520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Kechikish o'sishi diagnostikasi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2023-06 .. 2024-05 (12 oy): Bad Rate barqaror 14.61% (10.5% - 18.0% oralig'ida).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2024-06 dan sakrash: iyunda 19.92%, iyul-avgustda 22.31%, oktyabrda 28.01% (+8.3 foiz punkt o'sish!).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Asosiy sabab: yangi mijozlar (NTB) ulushi 28.6% dan 33.1% ga oshgan, NTB defolti esa 22.78% dan 32.14% ga sakragan.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931920"/>
            <a:ext cx="452628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78040" y="3931920"/>
            <a:ext cx="4526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19" y="4078224"/>
            <a:ext cx="4160520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Selection Bias va 3. Anketa anomaliyalari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Eski siyosat siljishi: Approved (score_v1 = 719, BKI = 682, daromad = 10.3 mln) vs Rejected (score_v1 = 450, BKI = 521, daromad = 6.0 mln).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362 ta ariza eski siyosatga zid ravishda ma'qullangan (score_v1 = 442) — model uchun past ball zonasida oltin namuna.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Anketa anomaliyasi: employment_months ustunida 1 402 ta NULL (7.79%) va 63 ta 0 qiymat bor.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83480"/>
            <a:ext cx="2057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5074920"/>
            <a:ext cx="183794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Segoe UI"/>
              </a:defRPr>
            </a:pPr>
            <a:r>
              <a:t>14.61%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2023-06..2024-05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Sakrashdan oldingi Bad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983480"/>
            <a:ext cx="2057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07208" y="5074920"/>
            <a:ext cx="183794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C2626"/>
                </a:solidFill>
                <a:latin typeface="Segoe UI"/>
              </a:defRPr>
            </a:pPr>
            <a:r>
              <a:t>22.91%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2024-06..2024-10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Sakrashdan keyin (+8.3 p.p.)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983480"/>
            <a:ext cx="2103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5074920"/>
            <a:ext cx="188366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Segoe UI"/>
              </a:defRPr>
            </a:pPr>
            <a:r>
              <a:t>1 402 (7.8%)</a:t>
            </a:r>
          </a:p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Stajda NULL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is_emp_missing flagi kerak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5-QADAM. Point-in-Time fichalar, daromad verifikatsiyasi va tuzoqlar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Faqat decision_date sanasigacha ma'lum bo'lgan 36 ta ustundan iborat vitrina yig'ildi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256032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5-QADAM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7784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5778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26463"/>
            <a:ext cx="5212079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Yig'ilgan fichalar guruhlari (qat'iy decision_date gacha)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1. Anketa va profil: requested_amount, term, declared_income, employment_months, is_emp_missing, pti_simple_ratio, is_existing_customer, segment, age_years.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2. Kredit byurosi (As-Of Join: snapshot_date &lt;= decision_date): bureau_score_asof, existing_debt_asof, active_loans_asof, bureau_inq_90d / 180d_cnt.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3. Karta xatti-harakati (3 va 6 oy oldin: txn_ts &lt; decision_date): oborotlar, 3m/6m dinamika, salary_in_avg_m, cash_out_share_6m, decline_rate_6m, disputlar.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557784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977639"/>
            <a:ext cx="55778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123944"/>
            <a:ext cx="5212079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Topilgan 5 ta tuzoq ustun (Data Leakage Traps)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1. dpd_max va contract_status_now (applications_full): corr = +0.76 — to'g'ridan-to'g'ri target liki!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2. collection_calls_cnt (applications_full): corr = +0.75 — defoltdan keyingi kollektor qo'ng'iroqlari.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3. bureau_score_latest (applications_full): corr = -0.35 (halol bureau_score_asof da esa -0.17) — defoltdan keyin tushib ketgan BKI balli.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4. worst_dpd_ever (bureau_loans): corr = +0.58 — 2025-05-31 holatiga kechikish.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5. cards.status va card_disputes.status — kelajakdagi blokirovka va disput yakuni.</a:t>
            </a:r>
          </a:p>
        </p:txBody>
      </p:sp>
      <p:pic>
        <p:nvPicPr>
          <p:cNvPr id="13" name="Picture 12" descr="chart_segments_u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80160"/>
            <a:ext cx="5394960" cy="313255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709160"/>
            <a:ext cx="539496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709160"/>
            <a:ext cx="53949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855464"/>
            <a:ext cx="50292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Segoe UI"/>
              </a:defRPr>
            </a:pPr>
            <a:r>
              <a:t>Xulosa: Anketadagi daromad oylik bilan tasdiqlanadimi?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ETB mijozlarning 4 922 tasida kartaga salary_in tushadi (o'rtacha nisbat 0.82).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Segoe UI"/>
              </a:defRPr>
            </a:pPr>
            <a:r>
              <a:t>•  Oyligi &gt;=70% tasdiqlanganlarda defolt atigi 10.71%, daromadini bo'rttirganlarda (&lt;70%) 13.52%, kartasiga oylik tushmaydigan NTB mijozlarda esa 25.37% (2.4 barobar ko'p!).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6-QADAM. Out-of-Time tekshiruv sxemasi va ikki xatoning puldagi narxi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Tasodifiy split emas, vaqt bo'yicha bo'lish va o'rtacha shartnoma (11.66 mln so'm) asosida qaror iqtisodiyoti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8360" y="256032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6-QADAM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Davr (Split)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Sanalar (decision_date)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Jami ariza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Yetilgan kredit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Bad Rate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Vazifasi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1. 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2023-06-01 .. 2024-05-31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9 347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5 917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14.62%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Modelni o'qitish + In-Time CV (client_id bo'yicha)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2. Val OOT-1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2024-06-01 .. 2024-07-31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1 554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1 000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21.00%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PD kalibrovkasi va optimal cutoff chegarasini tanlash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3. Test OOT-2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2024-08-01 .. 2024-10-31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2 312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24.55%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Yakuniy ko'r-ko'rona Out-of-Time sinov (portfel siljigach)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4. Monitoring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2024-11-01 .. 2025-04-30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4 787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Yetilmagan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PSI (barqarorlik) va erta FPD30 (1-3 to'lov) nazorati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611880"/>
            <a:ext cx="5440680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3611880"/>
            <a:ext cx="5440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758184"/>
            <a:ext cx="507492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I tur xatosi (FN — Bad mijozni ma'qullash): ~8.68 mln so'm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O'rtacha shartnoma: summa = 11.66 mln so'm, muddat = 13.55 oy, stavka = 31.03%.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Haqiqiy pul oqimi bo'yicha: Bad mijoz o'rtacha 13.26 mln so'm oladi, lekin defoltgacha atigi 4.58 mln so'm (~3.5 ta to'lov) qaytaradi.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Bankning to'g'ridan-to'g'ri tana bo'yicha zarari: 8 682 758 so'm (yoki qaytarilmagan qoldiq bo'yicha 9.09 mln so'm, LGD = 68.5%).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11880"/>
            <a:ext cx="5440680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3611880"/>
            <a:ext cx="54406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758184"/>
            <a:ext cx="507492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F172A"/>
                </a:solidFill>
                <a:latin typeface="Segoe UI"/>
              </a:defRPr>
            </a:pPr>
            <a:r>
              <a:t>II tur xatosi (FP — Good mijozni rad etish) va Cutoff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Good mijozni rad etishda bank kredit tanasini yo'qotmaydi, faqat foiz daromadini (marjani) boy beradi: o'rtacha 2 347 415 so'm (sof oqim ~1.41 mln so'm).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Xulosa: 1 ta Bad mijozni ma'qullash xatosi 1 ta Good mijozni rad etishdan 3.7 – 6.1 barobar qimmat!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Zararsizlik chegarasi (Breakeven PD Cutoff): PD_cutoff = 2.35 / (8.68 + 2.35) = 21.3% (sof marja bo'yicha ~14.0%). PD &gt; 21% bo'lgan arizalarni standart shartda ma'qullash bankka zarar keltiradi.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1903</Words>
  <Application>Microsoft Office PowerPoint</Application>
  <PresentationFormat>Широкоэкранный</PresentationFormat>
  <Paragraphs>215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Abdulloh To'xtasinov</cp:lastModifiedBy>
  <cp:revision>2</cp:revision>
  <dcterms:created xsi:type="dcterms:W3CDTF">2013-01-27T09:14:16Z</dcterms:created>
  <dcterms:modified xsi:type="dcterms:W3CDTF">2026-10-22T06:22:05Z</dcterms:modified>
  <cp:category/>
</cp:coreProperties>
</file>